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90626" y="1346947"/>
            <a:ext cx="7667244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90626" y="4282763"/>
            <a:ext cx="7667244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90626" y="1484779"/>
            <a:ext cx="7667244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475220" cy="3035808"/>
          </a:xfrm>
        </p:spPr>
        <p:txBody>
          <a:bodyPr anchor="ctr">
            <a:noAutofit/>
          </a:bodyPr>
          <a:lstStyle>
            <a:lvl1pPr algn="l">
              <a:lnSpc>
                <a:spcPct val="85000"/>
              </a:lnSpc>
              <a:defRPr sz="6600" b="1" cap="none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699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073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5000"/>
              </a:lnSpc>
              <a:defRPr sz="6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3376" y="6282268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716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295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150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508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544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848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123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177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87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734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93" r:id="rId2"/>
    <p:sldLayoutId id="2147483794" r:id="rId3"/>
    <p:sldLayoutId id="2147483795" r:id="rId4"/>
    <p:sldLayoutId id="2147483796" r:id="rId5"/>
    <p:sldLayoutId id="2147483797" r:id="rId6"/>
    <p:sldLayoutId id="2147483798" r:id="rId7"/>
    <p:sldLayoutId id="2147483799" r:id="rId8"/>
    <p:sldLayoutId id="2147483800" r:id="rId9"/>
    <p:sldLayoutId id="2147483801" r:id="rId10"/>
    <p:sldLayoutId id="214748380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1" kern="1200" cap="none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/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Customer Churn Analysis -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5471" y="1417638"/>
            <a:ext cx="8421329" cy="4708525"/>
          </a:xfrm>
        </p:spPr>
        <p:txBody>
          <a:bodyPr/>
          <a:lstStyle/>
          <a:p>
            <a:r>
              <a:rPr dirty="0"/>
              <a:t>This presentation provides a detailed analysis of customer churn.</a:t>
            </a:r>
          </a:p>
          <a:p>
            <a:pPr marL="0" indent="0">
              <a:buNone/>
            </a:pPr>
            <a:r>
              <a:rPr dirty="0"/>
              <a:t>Objective:</a:t>
            </a:r>
          </a:p>
          <a:p>
            <a:r>
              <a:rPr dirty="0"/>
              <a:t>Identify patterns, understand customer behavior, and recommend strategies to reduce churn.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0606" y="324465"/>
            <a:ext cx="7907594" cy="1769511"/>
          </a:xfrm>
        </p:spPr>
        <p:txBody>
          <a:bodyPr/>
          <a:lstStyle/>
          <a:p>
            <a:r>
              <a:rPr dirty="0"/>
              <a:t>Understanding Customer Churn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4297363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dirty="0"/>
              <a:t>Customer churn refers to customers leaving the service.</a:t>
            </a:r>
          </a:p>
          <a:p>
            <a:pPr marL="0" indent="0">
              <a:buNone/>
            </a:pPr>
            <a:r>
              <a:rPr b="1" dirty="0"/>
              <a:t>Why it matters:</a:t>
            </a:r>
          </a:p>
          <a:p>
            <a:r>
              <a:rPr dirty="0"/>
              <a:t>- Loss of revenue</a:t>
            </a:r>
          </a:p>
          <a:p>
            <a:r>
              <a:rPr dirty="0"/>
              <a:t>- Increased cost of acquiring new customers</a:t>
            </a:r>
          </a:p>
          <a:p>
            <a:r>
              <a:rPr dirty="0"/>
              <a:t>- Impacts long-term growth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Churn Distribution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Key observation:</a:t>
            </a:r>
          </a:p>
          <a:p>
            <a:r>
              <a:rPr dirty="0"/>
              <a:t>- A significant portion of customers have churned</a:t>
            </a:r>
          </a:p>
          <a:p>
            <a:r>
              <a:rPr dirty="0"/>
              <a:t>- Indicates retention is a major business concern</a:t>
            </a:r>
            <a:endParaRPr lang="en-US" dirty="0"/>
          </a:p>
          <a:p>
            <a:r>
              <a:rPr dirty="0"/>
              <a:t>Focus needed on high-risk segments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Churn by Contract Type (Detailed)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- Month-to-month customers show highest churn</a:t>
            </a:r>
          </a:p>
          <a:p>
            <a:r>
              <a:rPr dirty="0"/>
              <a:t>- One-year and two-year contracts have lower churn</a:t>
            </a:r>
          </a:p>
          <a:p>
            <a:pPr marL="0" indent="0">
              <a:buNone/>
            </a:pPr>
            <a:r>
              <a:rPr b="1" dirty="0"/>
              <a:t>Reason</a:t>
            </a:r>
            <a:r>
              <a:rPr dirty="0"/>
              <a:t>:</a:t>
            </a:r>
          </a:p>
          <a:p>
            <a:r>
              <a:rPr dirty="0"/>
              <a:t>- Less commitment in short contracts</a:t>
            </a:r>
          </a:p>
          <a:p>
            <a:pPr marL="0" indent="0">
              <a:buNone/>
            </a:pPr>
            <a:r>
              <a:rPr dirty="0"/>
              <a:t>Recommendation:</a:t>
            </a:r>
          </a:p>
          <a:p>
            <a:r>
              <a:rPr dirty="0"/>
              <a:t>- Provide incentives for long-term contracts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Churn by Internet Service (Detailed)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- Fiber optic users churn more than DSL users</a:t>
            </a:r>
          </a:p>
          <a:p>
            <a:pPr marL="0" indent="0">
              <a:buNone/>
            </a:pPr>
            <a:r>
              <a:rPr b="1" dirty="0"/>
              <a:t>Possible reasons:</a:t>
            </a:r>
          </a:p>
          <a:p>
            <a:r>
              <a:rPr dirty="0"/>
              <a:t>- Higher cost</a:t>
            </a:r>
          </a:p>
          <a:p>
            <a:r>
              <a:rPr dirty="0"/>
              <a:t>- Higher expectations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b="1" dirty="0"/>
              <a:t>Recommendation</a:t>
            </a:r>
            <a:r>
              <a:rPr dirty="0"/>
              <a:t>:</a:t>
            </a:r>
          </a:p>
          <a:p>
            <a:r>
              <a:rPr dirty="0"/>
              <a:t>- Improve service quality and support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Churn by Tenure (Detailed)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- Customers with low tenure churn more</a:t>
            </a:r>
          </a:p>
          <a:p>
            <a:r>
              <a:rPr dirty="0"/>
              <a:t>- Long-term customers are more loyal</a:t>
            </a:r>
          </a:p>
          <a:p>
            <a:pPr marL="0" indent="0">
              <a:buNone/>
            </a:pPr>
            <a:r>
              <a:rPr b="1" dirty="0"/>
              <a:t>Reason</a:t>
            </a:r>
            <a:r>
              <a:rPr dirty="0"/>
              <a:t>:</a:t>
            </a:r>
          </a:p>
          <a:p>
            <a:r>
              <a:rPr dirty="0"/>
              <a:t>- Lack of engagement early stage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b="1" dirty="0"/>
              <a:t>Recommendation</a:t>
            </a:r>
            <a:r>
              <a:rPr dirty="0"/>
              <a:t>:</a:t>
            </a:r>
          </a:p>
          <a:p>
            <a:r>
              <a:rPr dirty="0"/>
              <a:t>- Improve onboarding and early engagement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Churn vs Monthly Charges (Detailed)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- High monthly charges correlate with higher churn</a:t>
            </a:r>
          </a:p>
          <a:p>
            <a:pPr marL="0" indent="0">
              <a:buNone/>
            </a:pPr>
            <a:r>
              <a:rPr b="1" dirty="0"/>
              <a:t>Reason</a:t>
            </a:r>
            <a:r>
              <a:rPr dirty="0"/>
              <a:t>:</a:t>
            </a:r>
          </a:p>
          <a:p>
            <a:r>
              <a:rPr dirty="0"/>
              <a:t>- Customers feel high cost vs value mismatch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b="1" dirty="0"/>
              <a:t>Recommendation:</a:t>
            </a:r>
          </a:p>
          <a:p>
            <a:r>
              <a:rPr dirty="0"/>
              <a:t>Offer discounts or bundled plans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Churn by Total Services (Detailed)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- Customers with fewer services churn more</a:t>
            </a:r>
          </a:p>
          <a:p>
            <a:r>
              <a:rPr dirty="0"/>
              <a:t>- Customers using multiple services stay longer</a:t>
            </a:r>
          </a:p>
          <a:p>
            <a:pPr marL="0" indent="0">
              <a:buNone/>
            </a:pPr>
            <a:r>
              <a:rPr b="1" dirty="0"/>
              <a:t>Reason</a:t>
            </a:r>
            <a:r>
              <a:rPr dirty="0"/>
              <a:t>:</a:t>
            </a:r>
          </a:p>
          <a:p>
            <a:r>
              <a:rPr dirty="0"/>
              <a:t>- Higher engagement leads to retention</a:t>
            </a:r>
          </a:p>
          <a:p>
            <a:pPr marL="0" indent="0">
              <a:buNone/>
            </a:pPr>
            <a:r>
              <a:rPr b="1" dirty="0"/>
              <a:t>Recommendation</a:t>
            </a:r>
            <a:r>
              <a:rPr dirty="0"/>
              <a:t>:</a:t>
            </a:r>
          </a:p>
          <a:p>
            <a:r>
              <a:rPr dirty="0"/>
              <a:t>- Promote bundled service packages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Churn by Payment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Electronic check users show higher churn</a:t>
            </a:r>
          </a:p>
          <a:p>
            <a:endParaRPr dirty="0"/>
          </a:p>
          <a:p>
            <a:r>
              <a:rPr b="1" dirty="0"/>
              <a:t>Possible reason</a:t>
            </a:r>
            <a:r>
              <a:rPr dirty="0"/>
              <a:t>:</a:t>
            </a:r>
          </a:p>
          <a:p>
            <a:r>
              <a:rPr dirty="0"/>
              <a:t>- Less automation, more friction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b="1" dirty="0"/>
              <a:t>Recommendation</a:t>
            </a:r>
            <a:r>
              <a:rPr dirty="0"/>
              <a:t>:</a:t>
            </a:r>
          </a:p>
          <a:p>
            <a:r>
              <a:rPr dirty="0"/>
              <a:t>- Encourage auto-payment methods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Business Insights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Contract type is the strongest churn driver</a:t>
            </a:r>
          </a:p>
          <a:p>
            <a:r>
              <a:t>- Pricing plays a major role</a:t>
            </a:r>
          </a:p>
          <a:p>
            <a:r>
              <a:t>- Customer engagement reduces churn</a:t>
            </a:r>
          </a:p>
          <a:p>
            <a:r>
              <a:t>- Early-stage customers are high-risk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Actionable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Promote long-term contracts</a:t>
            </a:r>
          </a:p>
          <a:p>
            <a:r>
              <a:t>- Improve onboarding experience</a:t>
            </a:r>
          </a:p>
          <a:p>
            <a:r>
              <a:t>- Offer pricing incentives</a:t>
            </a:r>
          </a:p>
          <a:p>
            <a:r>
              <a:t>- Enhance service quality</a:t>
            </a:r>
          </a:p>
          <a:p>
            <a:r>
              <a:t>- Encourage bundled services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This analysis highlights key factors driving customer churn.</a:t>
            </a:r>
          </a:p>
          <a:p>
            <a:endParaRPr dirty="0"/>
          </a:p>
          <a:p>
            <a:r>
              <a:rPr dirty="0"/>
              <a:t>Using these insights, businesses can:</a:t>
            </a:r>
          </a:p>
          <a:p>
            <a:r>
              <a:rPr dirty="0"/>
              <a:t>- Improve retention</a:t>
            </a:r>
          </a:p>
          <a:p>
            <a:r>
              <a:rPr dirty="0"/>
              <a:t>- Increase customer lifetime value</a:t>
            </a:r>
          </a:p>
          <a:p>
            <a:r>
              <a:rPr dirty="0"/>
              <a:t>- Make data-driven decisions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Wood Type">
      <a:maj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C6AE0645-98FF-411B-B0E9-59ABD78A0CC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9</TotalTime>
  <Words>367</Words>
  <Application>Microsoft Office PowerPoint</Application>
  <PresentationFormat>On-screen Show (4:3)</PresentationFormat>
  <Paragraphs>80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Georgia</vt:lpstr>
      <vt:lpstr>Trebuchet MS</vt:lpstr>
      <vt:lpstr>Wingdings</vt:lpstr>
      <vt:lpstr>Wood Type</vt:lpstr>
      <vt:lpstr>Customer Churn Analysis - Insights</vt:lpstr>
      <vt:lpstr>Understanding Customer Churn</vt:lpstr>
      <vt:lpstr>Churn Distribution Overview</vt:lpstr>
      <vt:lpstr>Churn by Contract Type (Detailed)</vt:lpstr>
      <vt:lpstr>Churn by Internet Service (Detailed)</vt:lpstr>
      <vt:lpstr>Churn by Tenure (Detailed)</vt:lpstr>
      <vt:lpstr>Churn vs Monthly Charges (Detailed)</vt:lpstr>
      <vt:lpstr>Churn by Total Services (Detailed)</vt:lpstr>
      <vt:lpstr>Churn by Payment Method</vt:lpstr>
      <vt:lpstr>Key Business Insights Summary</vt:lpstr>
      <vt:lpstr>Actionable 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PRITESH</dc:creator>
  <cp:keywords/>
  <dc:description>generated using python-pptx</dc:description>
  <cp:lastModifiedBy>pritesh ingle</cp:lastModifiedBy>
  <cp:revision>3</cp:revision>
  <dcterms:created xsi:type="dcterms:W3CDTF">2013-01-27T09:14:16Z</dcterms:created>
  <dcterms:modified xsi:type="dcterms:W3CDTF">2026-05-02T10:40:58Z</dcterms:modified>
  <cp:category/>
</cp:coreProperties>
</file>